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h kumar" userId="af8b72c23c8f5a4b" providerId="LiveId" clId="{5401766F-D6D7-44C3-A5B3-E93C39AB8DDF}"/>
    <pc:docChg chg="modSld">
      <pc:chgData name="hemanth kumar" userId="af8b72c23c8f5a4b" providerId="LiveId" clId="{5401766F-D6D7-44C3-A5B3-E93C39AB8DDF}" dt="2026-03-25T07:32:57.930" v="53" actId="113"/>
      <pc:docMkLst>
        <pc:docMk/>
      </pc:docMkLst>
      <pc:sldChg chg="modSp mod">
        <pc:chgData name="hemanth kumar" userId="af8b72c23c8f5a4b" providerId="LiveId" clId="{5401766F-D6D7-44C3-A5B3-E93C39AB8DDF}" dt="2026-03-25T07:25:26.983" v="10" actId="113"/>
        <pc:sldMkLst>
          <pc:docMk/>
          <pc:sldMk cId="0" sldId="259"/>
        </pc:sldMkLst>
        <pc:spChg chg="mod">
          <ac:chgData name="hemanth kumar" userId="af8b72c23c8f5a4b" providerId="LiveId" clId="{5401766F-D6D7-44C3-A5B3-E93C39AB8DDF}" dt="2026-03-24T23:52:37.471" v="0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hemanth kumar" userId="af8b72c23c8f5a4b" providerId="LiveId" clId="{5401766F-D6D7-44C3-A5B3-E93C39AB8DDF}" dt="2026-03-25T07:25:26.983" v="10" actId="113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hemanth kumar" userId="af8b72c23c8f5a4b" providerId="LiveId" clId="{5401766F-D6D7-44C3-A5B3-E93C39AB8DDF}" dt="2026-03-25T07:28:06.884" v="23" actId="113"/>
        <pc:sldMkLst>
          <pc:docMk/>
          <pc:sldMk cId="0" sldId="266"/>
        </pc:sldMkLst>
        <pc:spChg chg="mod">
          <ac:chgData name="hemanth kumar" userId="af8b72c23c8f5a4b" providerId="LiveId" clId="{5401766F-D6D7-44C3-A5B3-E93C39AB8DDF}" dt="2026-03-25T07:28:06.884" v="23" actId="113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hemanth kumar" userId="af8b72c23c8f5a4b" providerId="LiveId" clId="{5401766F-D6D7-44C3-A5B3-E93C39AB8DDF}" dt="2026-03-25T07:26:47.321" v="15" actId="113"/>
        <pc:sldMkLst>
          <pc:docMk/>
          <pc:sldMk cId="0" sldId="268"/>
        </pc:sldMkLst>
        <pc:spChg chg="mod">
          <ac:chgData name="hemanth kumar" userId="af8b72c23c8f5a4b" providerId="LiveId" clId="{5401766F-D6D7-44C3-A5B3-E93C39AB8DDF}" dt="2026-03-25T07:26:47.321" v="15" actId="113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hemanth kumar" userId="af8b72c23c8f5a4b" providerId="LiveId" clId="{5401766F-D6D7-44C3-A5B3-E93C39AB8DDF}" dt="2026-03-25T07:28:54.018" v="30" actId="113"/>
        <pc:sldMkLst>
          <pc:docMk/>
          <pc:sldMk cId="0" sldId="270"/>
        </pc:sldMkLst>
        <pc:spChg chg="mod">
          <ac:chgData name="hemanth kumar" userId="af8b72c23c8f5a4b" providerId="LiveId" clId="{5401766F-D6D7-44C3-A5B3-E93C39AB8DDF}" dt="2026-03-25T07:28:54.018" v="30" actId="113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hemanth kumar" userId="af8b72c23c8f5a4b" providerId="LiveId" clId="{5401766F-D6D7-44C3-A5B3-E93C39AB8DDF}" dt="2026-03-25T07:30:52.189" v="40" actId="113"/>
        <pc:sldMkLst>
          <pc:docMk/>
          <pc:sldMk cId="0" sldId="272"/>
        </pc:sldMkLst>
        <pc:spChg chg="mod">
          <ac:chgData name="hemanth kumar" userId="af8b72c23c8f5a4b" providerId="LiveId" clId="{5401766F-D6D7-44C3-A5B3-E93C39AB8DDF}" dt="2026-03-25T07:30:52.189" v="40" actId="113"/>
          <ac:spMkLst>
            <pc:docMk/>
            <pc:sldMk cId="0" sldId="272"/>
            <ac:spMk id="6" creationId="{00000000-0000-0000-0000-000000000000}"/>
          </ac:spMkLst>
        </pc:spChg>
      </pc:sldChg>
      <pc:sldChg chg="modSp mod">
        <pc:chgData name="hemanth kumar" userId="af8b72c23c8f5a4b" providerId="LiveId" clId="{5401766F-D6D7-44C3-A5B3-E93C39AB8DDF}" dt="2026-03-25T07:32:57.930" v="53" actId="113"/>
        <pc:sldMkLst>
          <pc:docMk/>
          <pc:sldMk cId="0" sldId="276"/>
        </pc:sldMkLst>
        <pc:spChg chg="mod">
          <ac:chgData name="hemanth kumar" userId="af8b72c23c8f5a4b" providerId="LiveId" clId="{5401766F-D6D7-44C3-A5B3-E93C39AB8DDF}" dt="2026-03-25T07:32:57.930" v="53" actId="113"/>
          <ac:spMkLst>
            <pc:docMk/>
            <pc:sldMk cId="0" sldId="27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25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8595360" cy="685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AI-Driven COVID-19 Contact Tracer with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 Optimization for Minimal Quarantine Strategy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CSA0619 : Design and Analysis of Algorithms Complex Algorithms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GUIDED BY: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Solainayagi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00713" y="329184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 Karthik (192424206)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 N V S Karthik (192424186)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Hemanth Kumar S (192424025)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Narasimha Reddy (192425281)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61772" y="13030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COVID-19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 tracing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critical for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controlling disease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spread in communities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tracing is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slow, error-prone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fails at scale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during rapid outbreaks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GPS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Bluetooth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data enable automated,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proximity detection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Infection chains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are modelled as graphs — enabling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BFS-based chain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reconstruction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 Problem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(NP-Hard) provides the mathematical basis for minimal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quarantine grouping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greedy approximation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achieves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ln(n)+1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optimality — efficient for large populations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AI-driven risk scoring combines contact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patterns, duration, and venue factors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2A03A2A7-D13E-2AA7-C847-EB9B0B6C4A9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6813C6D-70D3-73FC-04DA-70BC5B5A239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317307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an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system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real-time COVID-19 contact tracing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GPS and Bluetooth log ingestion with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filtering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Reconstruct infection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transmission chains using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Breadth-First Search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(BFS)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Greedy Set Cover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approximation to identify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minimal quarantine groups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risk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scoring engine based on contact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patterns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exposure factors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an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dashboard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visualizing spread and generating automated alerts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74E1B03B-9101-849A-D2A4-8AF90A3CD4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3EF88BB-4CBB-CC74-6D9C-1E7635CDD32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06139"/>
            <a:ext cx="827960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COVID-19 outbreaks are accelerated by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undetected chains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 transmission in communities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Traditional manual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contact tracing is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 slow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to keep pace with exponential spread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Quarantining entire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close-contact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networks leads to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unnecessary economic disruption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is no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 mechanism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identify the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minimum set of people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quarantine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 Problem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formally models this: given contact groups, find the smallest collection that covers all exposed individuals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AI-integrated system with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algorithmic optimization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required for timely, accurate, minimal quarantine decisions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F9E8242C-F74E-5A48-0843-6021F4AACF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22667"/>
            <a:ext cx="1014413" cy="102584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A3D0163F-5CE6-1EDC-E22B-7C2C9043F98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Modules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358330" y="1252728"/>
            <a:ext cx="73152" cy="566928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94360" y="129044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 – Contact Log Ingestion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90073" y="149075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Collection of GPS and Bluetooth proximity interaction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58330" y="2002536"/>
            <a:ext cx="73152" cy="566928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 – Infection Timeline Construction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94360" y="222227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Reconstruction of possible disease transmission chains using BFS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60902" y="2752344"/>
            <a:ext cx="73152" cy="566928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275262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3 – Set Cover Approximation Optimization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8640" y="2988087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Identification of minimal quarantine groups using greedy algorithms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60902" y="3502152"/>
            <a:ext cx="73152" cy="566928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3489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4 – Risk Scoring Engine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48640" y="36727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Calculation of exposure risk based on contact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65760" y="4251960"/>
            <a:ext cx="73152" cy="566928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" y="4261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5 – Dashboard and Alert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48640" y="4469321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Visualization of infection spread and automated quarantine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object 4">
            <a:extLst>
              <a:ext uri="{FF2B5EF4-FFF2-40B4-BE49-F238E27FC236}">
                <a16:creationId xmlns:a16="http://schemas.microsoft.com/office/drawing/2014/main" id="{1653E8A8-082C-AA10-C98B-3320DA63F76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21" name="object 5">
            <a:extLst>
              <a:ext uri="{FF2B5EF4-FFF2-40B4-BE49-F238E27FC236}">
                <a16:creationId xmlns:a16="http://schemas.microsoft.com/office/drawing/2014/main" id="{CB5B5764-C2BA-BD25-2B3D-65FD41808A5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 Flow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320040" y="18288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20040" y="18288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Ingestion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874520" y="2441448"/>
            <a:ext cx="256032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993392" y="228142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130552" y="18288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130552" y="18288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Reconstruction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(BFS)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685032" y="2441448"/>
            <a:ext cx="256032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9476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941064" y="18288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941064" y="18288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(Greedy)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495544" y="2441448"/>
            <a:ext cx="256032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00700" y="228142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751576" y="18288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51576" y="18288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306056" y="2441448"/>
            <a:ext cx="256032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24928" y="228142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562088" y="18288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62088" y="18288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Alerts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20040" y="33375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Input: GPS / Bluetooth Contact Logs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20040" y="36393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Output: Minimal Quarantine Groups + Risk Scores + Automated Alerts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320040" y="41148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Time Complexity: O(n) → O(V+E) → O(n² log n) → O(n·k) → O(n)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object 4">
            <a:extLst>
              <a:ext uri="{FF2B5EF4-FFF2-40B4-BE49-F238E27FC236}">
                <a16:creationId xmlns:a16="http://schemas.microsoft.com/office/drawing/2014/main" id="{7D48A5B1-6EB8-7638-1919-2E852E8D3A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27" name="object 5">
            <a:extLst>
              <a:ext uri="{FF2B5EF4-FFF2-40B4-BE49-F238E27FC236}">
                <a16:creationId xmlns:a16="http://schemas.microsoft.com/office/drawing/2014/main" id="{53D051EF-818C-8AAD-D8A8-B03C272F128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7200" y="1490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GPS Logs  |  Bluetooth Proximity  |  QR Check-In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297680" y="19842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65760" y="2240280"/>
            <a:ext cx="8412480" cy="9144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Processing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57200" y="2679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 Filter (O(n))  |  BFS Chain Builder (O(V+E))  |  Greedy Set Cover (O(n² log n))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297680" y="3172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65760" y="3429000"/>
            <a:ext cx="8412480" cy="914400"/>
          </a:xfrm>
          <a:prstGeom prst="rect">
            <a:avLst/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" y="3867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Scoring Engine  |  Alert Dispatcher  |  Dashboard UI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Single-file frontend (HTML/CSS/JS) communicates directly with the algorithmic core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4">
            <a:extLst>
              <a:ext uri="{FF2B5EF4-FFF2-40B4-BE49-F238E27FC236}">
                <a16:creationId xmlns:a16="http://schemas.microsoft.com/office/drawing/2014/main" id="{01C1F085-8162-7628-76CD-7730D829F94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18" name="object 5">
            <a:extLst>
              <a:ext uri="{FF2B5EF4-FFF2-40B4-BE49-F238E27FC236}">
                <a16:creationId xmlns:a16="http://schemas.microsoft.com/office/drawing/2014/main" id="{ACDA1CBD-B249-45C8-0861-49C7ED7BC8B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320" y="122958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1: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 Log Ingestion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74320" y="1641062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Collection of GPS location coordinates and Bluetooth RSSI proximity signals from mobile devices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data ingestion pipeline handles 10,000+ events per minute with deduplication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Filtering criteria: distance &lt; 2 metres AND duration &gt; 5 minutes to qualify as a contact event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Timestamps are normalized to UTC; location clusters are identified via coordinate hashing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quality metrics: GPS accuracy (94%), Bluetooth precision (87%), completeness (76%)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Complexity: O(n) linear scan with hash-based deduplication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40C6DD27-49F7-C905-46DE-85DFBEBC53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877EEB6C-E3F1-252B-3646-BA2E5F43491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 Output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611901"/>
              </p:ext>
            </p:extLst>
          </p:nvPr>
        </p:nvGraphicFramePr>
        <p:xfrm>
          <a:off x="731520" y="1242497"/>
          <a:ext cx="7498080" cy="2011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 ID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PERSON A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PERSON B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SIGNAL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DURATION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DISTANCE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RISK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LOG-0001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P-1047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P-2091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Bluetooth LE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12.3 min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 m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HIGH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LOG-0002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P-2091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P-3347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GPS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6.1 min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1.4 m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HIGH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LOG-0003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P-0082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P-1047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QR Check-In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45.0 min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2.1 m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77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MEDIUM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LOG-0004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P-4412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P-5021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Bluetooth LE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3.2 min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1.9 m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7A3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LOW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1"/>
          <p:cNvSpPr/>
          <p:nvPr/>
        </p:nvSpPr>
        <p:spPr>
          <a:xfrm>
            <a:off x="721518" y="334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logs processed: </a:t>
            </a:r>
            <a:r>
              <a:rPr lang="en-US" sz="13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14,892</a:t>
            </a: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→   Valid contact events: </a:t>
            </a:r>
            <a:r>
              <a:rPr lang="en-US" sz="13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3,891</a:t>
            </a:r>
            <a:r>
              <a:rPr lang="en-US" sz="13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(Reduction: 73.8%)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365760" y="3751805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Screenshot — Contact Log Ingestion Interface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721519" y="4069079"/>
            <a:ext cx="7508082" cy="747043"/>
          </a:xfrm>
          <a:prstGeom prst="rect">
            <a:avLst/>
          </a:prstGeom>
          <a:solidFill>
            <a:srgbClr val="0A1628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57200" y="40997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[ COVID TRACER ΩQ  —  Module 1: Contact Log Ingestion  |  3,891 events filtered  |  SYSTEM ONLINE ]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A2AAFC55-218E-246F-E435-FCFCACF639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10" name="object 5">
            <a:extLst>
              <a:ext uri="{FF2B5EF4-FFF2-40B4-BE49-F238E27FC236}">
                <a16:creationId xmlns:a16="http://schemas.microsoft.com/office/drawing/2014/main" id="{62B552BF-0952-F785-4C0A-B3F592E863B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65760" y="1211723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2: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Infection Timeline Construction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01465" y="1793560"/>
            <a:ext cx="8642509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 network is modelled as a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directed graph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 = (V, E) where V = individuals, E = contact events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Breadth-First Search (BFS)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starts from each confirmed positive patient as the source node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Traversal is bounded by the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COVID-19 incubation window of 14 days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limit chain depth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qualification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duration &gt; 5 min and distance &lt; 2 m — preventing false positive chains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Secondary and tertiary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transmission paths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are identified, reconstructing full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infection trees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Complexity: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O(V + E)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linear in the number of people and contact interactions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concurrent BFS from multiple confirmed cases to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 overlapping clusters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FA4B3EC8-F91A-911D-1F21-A0D8DE3EB9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5C237070-D3FF-898A-E07A-9750396D6B2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 Output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914400" y="1051560"/>
            <a:ext cx="36576" cy="356616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95528" y="1097280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43000" y="1051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 8 — Day 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017520" y="10515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P-1047: POSITIVE TEST CONFIRMED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95528" y="1691640"/>
            <a:ext cx="256032" cy="256032"/>
          </a:xfrm>
          <a:prstGeom prst="ellipse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4300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 8 — 14:30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017520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 with P-0082 at Office (45 min) — Exposure logged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95528" y="2286000"/>
            <a:ext cx="256032" cy="256032"/>
          </a:xfrm>
          <a:prstGeom prst="ellipse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4300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 9 — 09:12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017520" y="22402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 with P-2091 at Market (12 min) — HIGH RISK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5528" y="2880360"/>
            <a:ext cx="256032" cy="256032"/>
          </a:xfrm>
          <a:prstGeom prst="ellipse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4300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 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017520" y="28346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P-2091 contacts P-3347, P-4812 — Chain extends to 6 nodes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795528" y="3474720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4300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017520" y="34290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P-2091 TESTS POSITIVE — Secondary case confirmed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95528" y="4069080"/>
            <a:ext cx="256032" cy="256032"/>
          </a:xfrm>
          <a:prstGeom prst="ellipse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4300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 13 — Today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017520" y="40233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BFS identifies 14 unique contacts. Set Cover optimization triggered.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1F3A8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BFS Result: 14 contact nodes traced | 2 confirmed positives | 5 HIGH-risk nodes | Graph depth: 3 hops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object 4">
            <a:extLst>
              <a:ext uri="{FF2B5EF4-FFF2-40B4-BE49-F238E27FC236}">
                <a16:creationId xmlns:a16="http://schemas.microsoft.com/office/drawing/2014/main" id="{CDBB044F-4C09-DD97-BCEC-4261CC9E4BE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27" name="object 5">
            <a:extLst>
              <a:ext uri="{FF2B5EF4-FFF2-40B4-BE49-F238E27FC236}">
                <a16:creationId xmlns:a16="http://schemas.microsoft.com/office/drawing/2014/main" id="{C2E4505B-C02C-C191-8990-7153FB53311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3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65760" y="109899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3: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 Approximation Optimization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1573819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 Given Universe U (all exposed contacts) and Sets S (candidate quarantine groups), select minimum |S| such that their union equals 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 Problem is NP-Hard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no polynomial-time exact algorithm exists unless P = NP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Greedy Approximation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At each step, select the group covering the most currently uncovered contacts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Repeat until all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contacts are covered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produces solution of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size ≤ (ln|U| + 1) × OPT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Complexity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O(n² log n)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n = |U|, significantly faster than brute-force 2ⁿ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example: 10 contacts, 4 candidate groups → Greedy selects 2 groups (optimal in this case)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directly minimizes disruption: fewer quarantine groups = lower economic and social impact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6F84AA30-590C-CFA1-C943-BE95D5AEFED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4B2B455E-1102-1DD1-7CC0-386CB6F56F1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3 Output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320040" y="1414177"/>
            <a:ext cx="402336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58191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A9FB5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# Greedy Set Cover
</a:t>
            </a:r>
            <a:r>
              <a:rPr lang="en-US" sz="1050" dirty="0">
                <a:solidFill>
                  <a:srgbClr val="FF7B7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def </a:t>
            </a:r>
            <a:r>
              <a:rPr lang="en-US" sz="1050" dirty="0">
                <a:solidFill>
                  <a:srgbClr val="79C0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greedySetCover</a:t>
            </a:r>
            <a:r>
              <a:rPr lang="en-US" sz="1050" dirty="0">
                <a:solidFill>
                  <a:srgbClr val="E6EDF3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(U, S):
  covered = set()
  chosen = []
</a:t>
            </a:r>
            <a:r>
              <a:rPr lang="en-US" sz="1050" dirty="0">
                <a:solidFill>
                  <a:srgbClr val="FF7B7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while</a:t>
            </a:r>
            <a:r>
              <a:rPr lang="en-US" sz="1050" dirty="0">
                <a:solidFill>
                  <a:srgbClr val="E6EDF3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covered != U:
    best = max(S,
      key=</a:t>
            </a:r>
            <a:r>
              <a:rPr lang="en-US" sz="1050" dirty="0">
                <a:solidFill>
                  <a:srgbClr val="FF7B7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lambda</a:t>
            </a:r>
            <a:r>
              <a:rPr lang="en-US" sz="1050" dirty="0">
                <a:solidFill>
                  <a:srgbClr val="E6EDF3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s:
        len(s - covered))
    chosen.append(best)
    covered |= best
</a:t>
            </a:r>
            <a:r>
              <a:rPr lang="en-US" sz="1050" dirty="0">
                <a:solidFill>
                  <a:srgbClr val="FF7B7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return</a:t>
            </a:r>
            <a:r>
              <a:rPr lang="en-US" sz="1050" dirty="0">
                <a:solidFill>
                  <a:srgbClr val="E6EDF3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chosen</a:t>
            </a:r>
            <a:r>
              <a:rPr lang="en-US" sz="1050" i="1" dirty="0">
                <a:solidFill>
                  <a:srgbClr val="6A9FB5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# ≤ ln(n)·OPT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617720" y="113985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Quarantine Group Selection Result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649724" y="1489522"/>
            <a:ext cx="4206240" cy="530352"/>
          </a:xfrm>
          <a:prstGeom prst="rect">
            <a:avLst/>
          </a:prstGeom>
          <a:solidFill>
            <a:srgbClr val="EEF4FB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656010" y="1485757"/>
            <a:ext cx="64008" cy="530352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86884" y="1526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QG-01  ★ SELECTED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786884" y="1750933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Covers: C1, C2, C4, C5, C7, C8, C9, C10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649724" y="2167128"/>
            <a:ext cx="4206240" cy="530352"/>
          </a:xfrm>
          <a:prstGeom prst="rect">
            <a:avLst/>
          </a:prstGeom>
          <a:solidFill>
            <a:srgbClr val="EEF4FB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49724" y="2179037"/>
            <a:ext cx="64008" cy="530352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86884" y="219484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QG-03  ★ SELECTED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786884" y="2422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Covers: C3, C6 — completes universe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649724" y="2843784"/>
            <a:ext cx="420624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86884" y="2902363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QG-02  (not needed)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86884" y="3112675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Covers: C1, C3, C5 — already covered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649724" y="3525012"/>
            <a:ext cx="420624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86884" y="3566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QG-04  (not needed)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786884" y="3776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Covers: C2, C4, C8 — already covered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649724" y="4201668"/>
            <a:ext cx="42062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09160" y="42016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2 groups quarantine all 10 contacts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Approx ratio: 1.0× (optimal result achieved)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object 4">
            <a:extLst>
              <a:ext uri="{FF2B5EF4-FFF2-40B4-BE49-F238E27FC236}">
                <a16:creationId xmlns:a16="http://schemas.microsoft.com/office/drawing/2014/main" id="{7065D91A-1BD3-5C76-F372-97B62AB8FE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25" name="object 5">
            <a:extLst>
              <a:ext uri="{FF2B5EF4-FFF2-40B4-BE49-F238E27FC236}">
                <a16:creationId xmlns:a16="http://schemas.microsoft.com/office/drawing/2014/main" id="{C4FB1E04-8DA5-708A-3B3F-D435074A1AD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4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65760" y="109899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4: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Scoring Engine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1727359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person in the contact network receives a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composite exposure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risk score (0–100)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Risk(p)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= w₁·ProximityScore(d) + w₂·DurationScore(t) + w₃·ChainDepthScore(k) + w₄·VenueScore(v)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ProximityScore: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max(0, 1 − d/2.0) × 40  —  weighted 40% for distance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ChainDepthScore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30 / (1 + e^(−0.5·(k−2)))  —  logistic curve penalising deep chains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VenueScore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(indoor%) / 100 × 20  —  indoor contacts carry higher transmission risk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Thresholds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LOW &lt; 40  |  MEDIUM 40–70  |  HIGH &gt; 70 (immediate quarantine)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Complexity: 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O(n·k)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where n = contacts, k = number of risk factors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2F8B3FB3-683F-B9D6-73B7-AD86066E2C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F5629A5D-1276-4D7F-B39F-1564A22BBAA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4 Output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365760" y="1005840"/>
            <a:ext cx="1965960" cy="1371600"/>
          </a:xfrm>
          <a:prstGeom prst="rect">
            <a:avLst/>
          </a:prstGeom>
          <a:solidFill>
            <a:srgbClr val="F8F9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65760" y="1005840"/>
            <a:ext cx="196596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1097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P-3347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6576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84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6576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5760" y="21945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contacts  |  Depth: 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514600" y="1005840"/>
            <a:ext cx="1965960" cy="1371600"/>
          </a:xfrm>
          <a:prstGeom prst="rect">
            <a:avLst/>
          </a:prstGeom>
          <a:solidFill>
            <a:srgbClr val="F8F9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14600" y="1005840"/>
            <a:ext cx="196596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14600" y="1097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P-2091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51460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78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51460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514600" y="21945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contacts  |  Depth: 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663440" y="1005840"/>
            <a:ext cx="1965960" cy="1371600"/>
          </a:xfrm>
          <a:prstGeom prst="rect">
            <a:avLst/>
          </a:prstGeom>
          <a:solidFill>
            <a:srgbClr val="F8F9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005840"/>
            <a:ext cx="1965960" cy="64008"/>
          </a:xfrm>
          <a:prstGeom prst="rect">
            <a:avLst/>
          </a:prstGeom>
          <a:solidFill>
            <a:srgbClr val="E05B00"/>
          </a:solidFill>
          <a:ln w="12700">
            <a:solidFill>
              <a:srgbClr val="E05B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63440" y="1097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P-0082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66344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5B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56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66344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B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MEDIUM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663440" y="21945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contacts  |  Depth: 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812280" y="1005840"/>
            <a:ext cx="1965960" cy="1371600"/>
          </a:xfrm>
          <a:prstGeom prst="rect">
            <a:avLst/>
          </a:prstGeom>
          <a:solidFill>
            <a:srgbClr val="F8F9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812280" y="1005840"/>
            <a:ext cx="1965960" cy="64008"/>
          </a:xfrm>
          <a:prstGeom prst="rect">
            <a:avLst/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12280" y="1097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P-4412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681228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81228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812280" y="21945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contacts  |  Depth: 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76578"/>
              </p:ext>
            </p:extLst>
          </p:nvPr>
        </p:nvGraphicFramePr>
        <p:xfrm>
          <a:off x="365760" y="2771776"/>
          <a:ext cx="8412480" cy="2103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P-3347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P-2091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P-4412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Proximity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38/40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35/40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Depth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(Indoor%)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RISK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" name="object 4">
            <a:extLst>
              <a:ext uri="{FF2B5EF4-FFF2-40B4-BE49-F238E27FC236}">
                <a16:creationId xmlns:a16="http://schemas.microsoft.com/office/drawing/2014/main" id="{9828C35D-BCA7-045F-E076-E99B14E9CE2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31" name="object 5">
            <a:extLst>
              <a:ext uri="{FF2B5EF4-FFF2-40B4-BE49-F238E27FC236}">
                <a16:creationId xmlns:a16="http://schemas.microsoft.com/office/drawing/2014/main" id="{B92F487F-1B06-A0F6-84F3-31A6B5D56CC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65760" y="109899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5: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and Alert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1653257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web-based dashboard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visualizing all five modules in a unified interface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population exposure map ,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colour-coded grid (Infected / Quarantine / Exposed / Safe)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KPI tiles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Total Infected, Contacts Traced, Active Quarantine Groups, Alert Accuracy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alert dispatch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SMS/push notifications sent to HIGH-risk contacts and health authorities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Quarantine recommendations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generated automatically from Set Cover output with 1-click dispatch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Infection timeline visualization with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BFS traversal chain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rendered as an interactive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graph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pipeline runs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every 15 minutes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; full audit log maintained for health departments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E60B8BDF-0333-4782-DE89-C6B8A89B644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E2B6B441-EE6D-14DD-340F-4F908E3C753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5 Output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365760" y="1349929"/>
            <a:ext cx="196596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65760" y="139424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1,284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65760" y="1807655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Infected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442877" y="1349929"/>
            <a:ext cx="1965960" cy="77724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478739" y="1399961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3,891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14600" y="179908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663440" y="1355457"/>
            <a:ext cx="1965960" cy="7772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71155" y="1406319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78870" y="179908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Quarantine Groups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812280" y="1349929"/>
            <a:ext cx="1965960" cy="777240"/>
          </a:xfrm>
          <a:prstGeom prst="rect">
            <a:avLst/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12280" y="1406319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96.4%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812280" y="179908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Alert 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94037" y="2395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Alert Dispatch Log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22998"/>
              </p:ext>
            </p:extLst>
          </p:nvPr>
        </p:nvGraphicFramePr>
        <p:xfrm>
          <a:off x="365760" y="2773397"/>
          <a:ext cx="4114800" cy="165506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P-3347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P-2091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Authority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P-0082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NOTICE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587430" y="2395301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 → Quarantine Recommendations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63440" y="2782348"/>
            <a:ext cx="4114800" cy="438912"/>
          </a:xfrm>
          <a:prstGeom prst="rect">
            <a:avLst/>
          </a:prstGeom>
          <a:solidFill>
            <a:srgbClr val="F8F9FA"/>
          </a:solidFill>
          <a:ln w="10160">
            <a:solidFill>
              <a:srgbClr val="CC00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9726" y="2787778"/>
            <a:ext cx="51435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32604" y="27823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QG-07 — CRITICAL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832604" y="3029807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P-2091, P-3347, P-4812  |  14 days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663440" y="3461004"/>
            <a:ext cx="4114800" cy="438912"/>
          </a:xfrm>
          <a:prstGeom prst="rect">
            <a:avLst/>
          </a:prstGeom>
          <a:solidFill>
            <a:srgbClr val="F8F9FA"/>
          </a:solidFill>
          <a:ln w="10160">
            <a:solidFill>
              <a:srgbClr val="E05B0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76013" y="3469291"/>
            <a:ext cx="64008" cy="438912"/>
          </a:xfrm>
          <a:prstGeom prst="rect">
            <a:avLst/>
          </a:prstGeom>
          <a:solidFill>
            <a:srgbClr val="E05B00"/>
          </a:solidFill>
          <a:ln w="12700">
            <a:solidFill>
              <a:srgbClr val="E05B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32604" y="3452717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B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QG-09 — HIGH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832604" y="36896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P-0082, P-1203  |  7 days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695444" y="4136231"/>
            <a:ext cx="4114800" cy="438912"/>
          </a:xfrm>
          <a:prstGeom prst="rect">
            <a:avLst/>
          </a:prstGeom>
          <a:solidFill>
            <a:srgbClr val="F8F9FA"/>
          </a:solidFill>
          <a:ln w="10160">
            <a:solidFill>
              <a:srgbClr val="157A3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695444" y="4130516"/>
            <a:ext cx="64008" cy="438912"/>
          </a:xfrm>
          <a:prstGeom prst="rect">
            <a:avLst/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32604" y="4157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QG-04 — RELEASE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4832604" y="43499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23 persons — cleared  |  14-day window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object 4">
            <a:extLst>
              <a:ext uri="{FF2B5EF4-FFF2-40B4-BE49-F238E27FC236}">
                <a16:creationId xmlns:a16="http://schemas.microsoft.com/office/drawing/2014/main" id="{198714B2-D502-EDFF-F7E7-C2862E1A31A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33" name="object 5">
            <a:extLst>
              <a:ext uri="{FF2B5EF4-FFF2-40B4-BE49-F238E27FC236}">
                <a16:creationId xmlns:a16="http://schemas.microsoft.com/office/drawing/2014/main" id="{388E12FE-A9A0-69CF-592B-8EB8AC20380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6576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365760" y="1371600"/>
            <a:ext cx="40233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65760" y="1371600"/>
            <a:ext cx="54864" cy="45720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14081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2920" y="16002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HTML5, CSS3, Vanilla JavaScript — Single File App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65760" y="192024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1920240"/>
            <a:ext cx="54864" cy="45720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956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2920" y="214884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BFS (chain build) + Greedy Set Cover (optimization)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65760" y="2468880"/>
            <a:ext cx="40233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2468880"/>
            <a:ext cx="54864" cy="45720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2505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Engine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2920" y="269748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multi-factor scoring with logistic curve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65760" y="30175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017520"/>
            <a:ext cx="54864" cy="45720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3054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02920" y="324612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HTML5 Canvas for network graph; CSS grid for maps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365760" y="3566160"/>
            <a:ext cx="40233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5760" y="3566160"/>
            <a:ext cx="54864" cy="45720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36027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Format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02920" y="37947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JSON contact log objects with GPS/BLE fields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365760" y="41148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5760" y="4114800"/>
            <a:ext cx="54864" cy="457200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" y="4151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Alert System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02920" y="43434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Event-driven dispatch log with status tracking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61772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Interface Preview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4617720" y="1325880"/>
            <a:ext cx="4114800" cy="3383280"/>
          </a:xfrm>
          <a:prstGeom prst="rect">
            <a:avLst/>
          </a:prstGeom>
          <a:solidFill>
            <a:srgbClr val="0A1628"/>
          </a:solidFill>
          <a:ln w="19050">
            <a:solidFill>
              <a:srgbClr val="1F3A8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617720" y="1325880"/>
            <a:ext cx="1005840" cy="338328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645152" y="15087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M1: Contact Log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4645152" y="205740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M2: Infection Chain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645152" y="260604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5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M3: Set Cover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4645152" y="315468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M4: Risk Engine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4645152" y="370332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M5: Dashboard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5715000" y="1417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E5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Quarantine Oracle — Set Cover Optimizer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5715000" y="1691640"/>
            <a:ext cx="868680" cy="502920"/>
          </a:xfrm>
          <a:prstGeom prst="rect">
            <a:avLst/>
          </a:prstGeom>
          <a:solidFill>
            <a:srgbClr val="0D1E35"/>
          </a:solidFill>
          <a:ln w="6350">
            <a:solidFill>
              <a:srgbClr val="1F3A8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715000" y="17099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D7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1,284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5715000" y="198424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Infected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6675120" y="1691640"/>
            <a:ext cx="868680" cy="502920"/>
          </a:xfrm>
          <a:prstGeom prst="rect">
            <a:avLst/>
          </a:prstGeom>
          <a:solidFill>
            <a:srgbClr val="0D1E35"/>
          </a:solidFill>
          <a:ln w="6350">
            <a:solidFill>
              <a:srgbClr val="1F3A8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675120" y="17099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3,891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6675120" y="198424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Traced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7635240" y="1691640"/>
            <a:ext cx="868680" cy="502920"/>
          </a:xfrm>
          <a:prstGeom prst="rect">
            <a:avLst/>
          </a:prstGeom>
          <a:solidFill>
            <a:srgbClr val="0D1E35"/>
          </a:solidFill>
          <a:ln w="6350">
            <a:solidFill>
              <a:srgbClr val="1F3A8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635240" y="17099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7635240" y="198424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Groups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5669280" y="2331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Interactive Set Cover Matrix + Greedy Simulation ]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5669280" y="2633472"/>
            <a:ext cx="2971800" cy="1371600"/>
          </a:xfrm>
          <a:prstGeom prst="rect">
            <a:avLst/>
          </a:prstGeom>
          <a:solidFill>
            <a:srgbClr val="0D1E35"/>
          </a:solidFill>
          <a:ln w="6350">
            <a:solidFill>
              <a:srgbClr val="1F3A8F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69280" y="2633472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BFS Network Graph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[Canvas Visualization]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object 4">
            <a:extLst>
              <a:ext uri="{FF2B5EF4-FFF2-40B4-BE49-F238E27FC236}">
                <a16:creationId xmlns:a16="http://schemas.microsoft.com/office/drawing/2014/main" id="{8E68CE09-9109-DAFC-CC32-9F3F242786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52" name="object 5">
            <a:extLst>
              <a:ext uri="{FF2B5EF4-FFF2-40B4-BE49-F238E27FC236}">
                <a16:creationId xmlns:a16="http://schemas.microsoft.com/office/drawing/2014/main" id="{0A2CC9B9-BA41-08D6-8615-3EA50072343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 Analysis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EE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65760" y="1005840"/>
            <a:ext cx="64008" cy="566928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Contacts Traced (Raw → Filtered)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251960" y="1051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14,892 → 3,891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94360" y="13075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73.8% noise reduction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65760" y="169164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1691640"/>
            <a:ext cx="64008" cy="566928"/>
          </a:xfrm>
          <a:prstGeom prst="rect">
            <a:avLst/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Cover: Groups Required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25196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of 4 candidate groups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4360" y="19933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Minimal quarantine achieved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65760" y="2377440"/>
            <a:ext cx="8412480" cy="566928"/>
          </a:xfrm>
          <a:prstGeom prst="rect">
            <a:avLst/>
          </a:prstGeom>
          <a:solidFill>
            <a:srgbClr val="EE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2377440"/>
            <a:ext cx="64008" cy="566928"/>
          </a:xfrm>
          <a:prstGeom prst="rect">
            <a:avLst/>
          </a:prstGeom>
          <a:solidFill>
            <a:srgbClr val="1F3A8F"/>
          </a:solidFill>
          <a:ln w="12700">
            <a:solidFill>
              <a:srgbClr val="1F3A8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BFS Chain Depth (P-1047)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25196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hops, 14 nodes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4360" y="26791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transmission tree in O(V+E)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65760" y="306324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65760" y="3063240"/>
            <a:ext cx="64008" cy="5669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High-Risk Persons Identified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25196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47 persons (Risk &gt; 70)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94360" y="33649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Immediate quarantine triggered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365760" y="3749040"/>
            <a:ext cx="8412480" cy="566928"/>
          </a:xfrm>
          <a:prstGeom prst="rect">
            <a:avLst/>
          </a:prstGeom>
          <a:solidFill>
            <a:srgbClr val="EE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65760" y="3749040"/>
            <a:ext cx="64008" cy="566928"/>
          </a:xfrm>
          <a:prstGeom prst="rect">
            <a:avLst/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4864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Alert Dispatch Accuracy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251960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96.4%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94360" y="40507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Validated against test dataset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65760" y="4434840"/>
            <a:ext cx="64008" cy="566928"/>
          </a:xfrm>
          <a:prstGeom prst="rect">
            <a:avLst/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Greedy vs. Optimal (10 contacts)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4251960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groups vs. OPT = 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594360" y="47365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Ratio: 1.0× (optimal in this case)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object 4">
            <a:extLst>
              <a:ext uri="{FF2B5EF4-FFF2-40B4-BE49-F238E27FC236}">
                <a16:creationId xmlns:a16="http://schemas.microsoft.com/office/drawing/2014/main" id="{01FA8448-4222-E451-950F-C06DEA5635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36" name="object 5">
            <a:extLst>
              <a:ext uri="{FF2B5EF4-FFF2-40B4-BE49-F238E27FC236}">
                <a16:creationId xmlns:a16="http://schemas.microsoft.com/office/drawing/2014/main" id="{48834DB8-1E24-4202-C893-AED6D7772DC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 &amp; Limitations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65760" y="1245870"/>
            <a:ext cx="8412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Privacy concerns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GPS and Bluetooth data collection raises significant ethical and legal issues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Battery and hardware constraints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Continuous BLE scanning drains mobile device battery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Cover approximation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may not reach OPT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; worst case is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ln(n)+1 times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optimal solution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Indoor positioning accuracy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limited — Bluetooth is affected by walls and obstacles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False positives occur when people are near each other but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physically separated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(e.g., different floors)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Graph scalability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BFS on very large contact networks (millions of nodes) requires distributed computing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Adoption challenge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System efficacy depends on high user participation and consistent device carrying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Static models require retraining as virus transmission characteristics evolve over time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B4C7F7E1-5A83-6788-04E1-943C7B35C5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D80AEA0-1522-FB19-6D6A-B1ABDD54AB3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65772" y="1130141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Successfully designed and implemented a full AI-driven COVID-19 contact tracing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Breadth-First Search for efficient infection chain reconstruction — O(V+E) time complexity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Implemented Greedy Set Cover approximation achieving ln(n)+1 bound for minimal quarantine grouping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Developed a weighted multi-factor risk scoring engine to prioritize quarantine decisions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Demonstrated the practical application of NP-Hard problem approximation in a real-world health context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Reduced quarantine group count from 4 candidates to 2 — directly minimizing societal disruption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modular architecture allows independent scaling of each pipeline stage in production deployment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C22436C0-262E-BC3B-8340-A38FC7A642E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29CED440-A707-35D3-86F1-1510E81764E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65760" y="1217295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Integration with national health databases for real-time confirmed case verification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 of privacy-preserving techniques — Differential Privacy and Federated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Distributed BFS using Apache Spark GraphX for billion-node contact networks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Exploration of ILP (Integer Linear Programming) solvers for exact Set Cover on smaller subgraphs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learning-based risk prediction using historical contact and outbreak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Multi-pathogen generalization — extend the system to influenza, mpox, and future pandemics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Mobile application with background BLE scanning and push-alert integration for mass deployment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B48E4C87-A2A9-8638-5B39-A05B50BA84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8EB67B2D-69EF-A55A-4BB8-089335C478A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7315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Ahmed, N. et al. (2020). "A Survey of COVID-19 Contact Tracing Apps." IEEE Access, 8, 134577–134601.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365760" y="1444752"/>
            <a:ext cx="8412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Raskar, R. et al. (2020). "Apps Gone Rogue: Maintaining Personal Privacy in an Epidemic." arXiv:2003.08567.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65760" y="1947672"/>
            <a:ext cx="8412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Khurana, M. et al. (2021). "Set Cover Approximation for Epidemic Control and Contact Management." IJCS, 14(3).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65760" y="2450592"/>
            <a:ext cx="8412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Moreno, J. et al. (2022). "Graph-Based COVID-19 Contact Tracing Using BFS with Incubation Constraints." ACM Health Informatics.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65760" y="2953512"/>
            <a:ext cx="8412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Cormen, T.H. et al. (2009). Introduction to Algorithms, 3rd Ed. MIT Press — Chapter 35: Approximation Algorithms.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65760" y="3456432"/>
            <a:ext cx="8412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 Feige, U. (1998). "A Threshold of ln(n) for Approximating Set Cover." Journal of the ACM, 45(4), 634–652.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65760" y="3959352"/>
            <a:ext cx="8412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7.  Cho, H. et al. (2020). "Contact Tracing Mobile Apps for COVID-19: Privacy Considerations and Related Trade-offs." JAMIA.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65760" y="4462272"/>
            <a:ext cx="8412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8.  Alsentzer, E. et al. (2020). "Epidemiological Modelling of Online Social Network Data with Application to COVID-19." arXiv.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object 4">
            <a:extLst>
              <a:ext uri="{FF2B5EF4-FFF2-40B4-BE49-F238E27FC236}">
                <a16:creationId xmlns:a16="http://schemas.microsoft.com/office/drawing/2014/main" id="{83A391FA-40EF-D8FF-B2B9-6746C2E0AE5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" y="15523"/>
            <a:ext cx="1014413" cy="1025843"/>
          </a:xfrm>
          <a:prstGeom prst="rect">
            <a:avLst/>
          </a:prstGeom>
        </p:spPr>
      </p:pic>
      <p:pic>
        <p:nvPicPr>
          <p:cNvPr id="21" name="object 5">
            <a:extLst>
              <a:ext uri="{FF2B5EF4-FFF2-40B4-BE49-F238E27FC236}">
                <a16:creationId xmlns:a16="http://schemas.microsoft.com/office/drawing/2014/main" id="{81B54FF0-6424-C31A-C233-0DB81BB2569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9552" y="15523"/>
            <a:ext cx="1221581" cy="10258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2436</Words>
  <Application>Microsoft Office PowerPoint</Application>
  <PresentationFormat>On-screen Show (16:9)</PresentationFormat>
  <Paragraphs>381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COVID-19 Contact Tracer with Set Cover Optimization</dc:title>
  <dc:subject>PptxGenJS Presentation</dc:subject>
  <dc:creator>PptxGenJS</dc:creator>
  <cp:lastModifiedBy>hemanth kumar</cp:lastModifiedBy>
  <cp:revision>2</cp:revision>
  <dcterms:created xsi:type="dcterms:W3CDTF">2026-03-13T10:12:47Z</dcterms:created>
  <dcterms:modified xsi:type="dcterms:W3CDTF">2026-03-25T07:34:29Z</dcterms:modified>
</cp:coreProperties>
</file>